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645920"/>
            <a:ext cx="6583680" cy="6583680"/>
          </a:xfrm>
          <a:prstGeom prst="ellipse">
            <a:avLst/>
          </a:prstGeom>
          <a:solidFill>
            <a:srgbClr val="0A1A2F">
              <a:alpha val="65000"/>
            </a:srgbClr>
          </a:solidFill>
          <a:ln w="12700">
            <a:solidFill>
              <a:srgbClr val="0A1A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22415" y="1737360"/>
            <a:ext cx="6400800" cy="6400800"/>
          </a:xfrm>
          <a:prstGeom prst="ellipse">
            <a:avLst/>
          </a:prstGeom>
          <a:solidFill>
            <a:srgbClr val="00FF99">
              <a:alpha val="40000"/>
            </a:srgbClr>
          </a:solidFill>
          <a:ln w="12700">
            <a:solidFill>
              <a:srgbClr val="00FF9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无人机技术与应用概览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10765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 · 载荷 · 算法 · 合规 · 交付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3657600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本次分享覆盖什么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从技术底座到落地交付的关键点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86584"/>
            <a:ext cx="164592" cy="75895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0487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技术栈分层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86207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平台/飞控/导航/通信/载荷/软件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4468" y="2386584"/>
            <a:ext cx="164592" cy="758952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8788" y="240487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关键指标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58788" y="286207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续航、载重、精度、抗风、冗余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41064"/>
            <a:ext cx="164592" cy="75895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5935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应用场景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41655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测绘、巡检、农业、安防、应急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55868" y="370332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4468" y="3941064"/>
            <a:ext cx="164592" cy="758952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8788" y="395935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安全与合规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58788" y="441655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空域、隐私、数据、失控保护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25780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495544"/>
            <a:ext cx="164592" cy="75895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51383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选型与实施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597103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需求→方案→试点→规模化运维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55868" y="5257800"/>
            <a:ext cx="5432908" cy="1234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4468" y="5495544"/>
            <a:ext cx="164592" cy="758952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8788" y="5513832"/>
            <a:ext cx="47013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趋势与机会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58788" y="5971032"/>
            <a:ext cx="47013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AI视觉、蜂群、VTOL、卫星通信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建议时长：10–15 分钟 · 可按需要删减或加深某一块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无人机系统分层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硬件平台 + 任务载荷 + 软件能力共同决定交付效果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8691" y="3291840"/>
            <a:ext cx="2560320" cy="1005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8691" y="3429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无人机平台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92691" y="164592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93859" y="1892808"/>
            <a:ext cx="420624" cy="420624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3859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24211" y="1874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机体/动力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24211" y="226771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结构、桨叶、电机、续航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691" y="2304288"/>
            <a:ext cx="640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7651" y="164592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88819" y="1892808"/>
            <a:ext cx="420624" cy="420624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819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19171" y="1874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飞控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19171" y="226771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姿态控制、冗余、故障保护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39011" y="2304288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2651" y="402336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73819" y="4270248"/>
            <a:ext cx="420624" cy="420624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3819" y="4288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04171" y="4251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导航定位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4171" y="464515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GNSS/RTK、IMU、视觉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8691" y="4681728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07691" y="402336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08859" y="4270248"/>
            <a:ext cx="420624" cy="420624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08859" y="4288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39211" y="4251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通信链路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39211" y="464515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数传/图传、抗干扰、加密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39011" y="4681728"/>
            <a:ext cx="8686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92691" y="640080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93859" y="6647688"/>
            <a:ext cx="420624" cy="420624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3859" y="6665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24211" y="6629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任务载荷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24211" y="7022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相机、激光雷达、喷洒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8691" y="7059168"/>
            <a:ext cx="640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87651" y="6400800"/>
            <a:ext cx="2926080" cy="1325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88819" y="6647688"/>
            <a:ext cx="420624" cy="420624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88819" y="6665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119171" y="6629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地面站/云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119171" y="7022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规划、任务管理、数据闭环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39011" y="7059168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2057400"/>
            <a:ext cx="4937760" cy="45262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2286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交付视角：三条主线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6968" y="2944368"/>
            <a:ext cx="329184" cy="329184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" y="2962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25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可靠性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25880" y="3310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失控保护、冗余、抗风与维护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4178808"/>
            <a:ext cx="329184" cy="329184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4197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2588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数据链路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25880" y="45445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采集→处理→标注→分析→归档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86968" y="5413248"/>
            <a:ext cx="329184" cy="329184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" y="5431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325880" y="5394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任务闭环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325880" y="5779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规划、执行、复盘、SOP、报表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怎么衡量一台无人机是否适配任务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先定义工况，再谈参数：环境、载荷、作业模式决定答案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86584"/>
            <a:ext cx="164592" cy="94183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04872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续航/航程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862072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电池效率、巡航速度、留安全余量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45–90 分钟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29074" y="2148840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7674" y="2386584"/>
            <a:ext cx="164592" cy="941832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1994" y="2404872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载重/载荷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31994" y="2862072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相机/雷达/喷洒与供电接口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31994" y="3108960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0.5–10 kg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55229" y="2148840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3829" y="2386584"/>
            <a:ext cx="164592" cy="94183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8149" y="2404872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定位精度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58149" y="2862072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RTK/PPP 与标定流程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8149" y="3108960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厘米级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2920" y="3858768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96512"/>
            <a:ext cx="164592" cy="94183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14800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抗风/稳定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风场、控制律、螺旋桨匹配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818888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6–10 m/s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329074" y="3858768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7674" y="4096512"/>
            <a:ext cx="164592" cy="941832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1994" y="4114800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链路与带宽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31994" y="457200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图传延迟、数传可靠性、加密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31994" y="4818888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 ms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155229" y="3858768"/>
            <a:ext cx="3533546" cy="14173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3829" y="4096512"/>
            <a:ext cx="164592" cy="941832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8149" y="4114800"/>
            <a:ext cx="2802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安全冗余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658149" y="457200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 IMU、双 GNSS、失效保护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58149" y="4818888"/>
            <a:ext cx="27563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可控降落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提示：参数来自典型行业范围，最终以测试工况与合规约束为准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典型行业应用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每个场景都要绑定：目标、覆盖范围、数据产出与SLA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414016"/>
            <a:ext cx="475488" cy="475488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测绘建模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0720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航测/倾斜摄影、点云与正射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2978" y="214884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8154" y="2414016"/>
            <a:ext cx="475488" cy="475488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8154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1658" y="237744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电力巡检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91658" y="280720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可见光+红外，缺陷识别与复核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43037" y="214884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08213" y="2414016"/>
            <a:ext cx="475488" cy="475488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8213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1717" y="237744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安防应急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11717" y="280720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热成像、喊话照明、快速部署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4197096"/>
            <a:ext cx="475488" cy="475488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6052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农业植保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59028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变量喷洒、地块管理与合规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2978" y="393192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8154" y="4197096"/>
            <a:ext cx="475488" cy="475488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8154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91658" y="416052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物流配送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91658" y="459028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短距高频、末端交付与调度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43037" y="3931920"/>
            <a:ext cx="3545738" cy="15087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08213" y="4197096"/>
            <a:ext cx="475488" cy="475488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8213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11717" y="4160520"/>
            <a:ext cx="24941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园区运维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11717" y="4590288"/>
            <a:ext cx="2494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例行巡航、告警联动、报表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前后值得关注的能力升级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硬件性能提升放缓，差异化更多来自软件与系统工程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0820095" cy="35661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9748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能力路线（从可用到可规模化）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3040" y="3291840"/>
            <a:ext cx="0" cy="2212848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3364992"/>
            <a:ext cx="219456" cy="219456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3319272"/>
            <a:ext cx="9631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视觉感知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566160"/>
            <a:ext cx="963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目标识别、缺陷检测、避障与自定位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53312" y="3895344"/>
            <a:ext cx="219456" cy="219456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849624"/>
            <a:ext cx="9631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高精定位普及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4096512"/>
            <a:ext cx="963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RTK/PPP 标准化、标定流程产品化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53312" y="4425696"/>
            <a:ext cx="219456" cy="219456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4379976"/>
            <a:ext cx="9631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蜂群/协同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626864"/>
            <a:ext cx="963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多机调度、任务分配、冲突消解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53312" y="4956048"/>
            <a:ext cx="219456" cy="219456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4910328"/>
            <a:ext cx="9631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通信升级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5157216"/>
            <a:ext cx="963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专网、卫星链路、端到端加密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53312" y="5486400"/>
            <a:ext cx="219456" cy="219456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5440680"/>
            <a:ext cx="96313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VTOL 与复合翼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687568"/>
            <a:ext cx="963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长航程 + 垂直起降，拓展工况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安全与合规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把风险降到可控：流程 + 技术 + 证据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合规不是“能不能飞”，而是“能否持续交付并承担责任”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669280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合规清单（示例）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2095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958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空域/审批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10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飞行计划、禁飞区、临时管制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8679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541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8130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人员资质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069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机长/操作员培训与记录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45262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125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4714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数据合规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274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隐私处理、留存期限、访问控制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518464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709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5129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设备安全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3858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失控保护、返航策略、冗余验证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58430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8293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57881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现场SOP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60441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起降区、围界、告知、应急预案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194560"/>
            <a:ext cx="5105095" cy="4389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514600"/>
            <a:ext cx="4465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风险矩阵（示例）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40880" y="3246120"/>
            <a:ext cx="4099255" cy="2971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0508" y="3246120"/>
            <a:ext cx="0" cy="29718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4732020"/>
            <a:ext cx="40992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3246120"/>
            <a:ext cx="2049628" cy="148590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0508" y="3246120"/>
            <a:ext cx="2049628" cy="148590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4732020"/>
            <a:ext cx="2049628" cy="148590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0508" y="4732020"/>
            <a:ext cx="2049628" cy="148590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 rot="5400000">
            <a:off x="11185855" y="46405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41868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发生概率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3429000"/>
            <a:ext cx="1234440" cy="3200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34564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低：SOP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73388" y="4914900"/>
            <a:ext cx="123444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73388" y="49423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中：冗余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73388" y="3429000"/>
            <a:ext cx="1234440" cy="32004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73388" y="34564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高：禁飞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从需求到规模化：建议的交付路径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用试点验证闭环，用指标驱动扩容与运维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0820095" cy="35661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474720"/>
            <a:ext cx="1834835" cy="2057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675888"/>
            <a:ext cx="365760" cy="365760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8488" y="3675888"/>
            <a:ext cx="11947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需求定义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133088"/>
            <a:ext cx="15147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场景/范围/产出/频率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1531" y="4343400"/>
            <a:ext cx="310896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9275" y="3474720"/>
            <a:ext cx="1834835" cy="2057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6435" y="3675888"/>
            <a:ext cx="365760" cy="365760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6435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6203" y="3675888"/>
            <a:ext cx="11947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平台选型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9315" y="4133088"/>
            <a:ext cx="15147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机型/载荷/链路/合规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9246" y="4343400"/>
            <a:ext cx="310896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6990" y="3474720"/>
            <a:ext cx="1834835" cy="2057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4150" y="3675888"/>
            <a:ext cx="365760" cy="365760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415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53918" y="3675888"/>
            <a:ext cx="11947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试点验证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07030" y="4133088"/>
            <a:ext cx="15147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SOP、指标、数据闭环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66961" y="4343400"/>
            <a:ext cx="310896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705" y="3474720"/>
            <a:ext cx="1834835" cy="2057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1865" y="3675888"/>
            <a:ext cx="365760" cy="365760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1865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71633" y="3675888"/>
            <a:ext cx="11947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规模部署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24745" y="4133088"/>
            <a:ext cx="15147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人员、备件、工单体系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84676" y="4343400"/>
            <a:ext cx="310896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22420" y="3474720"/>
            <a:ext cx="1834835" cy="2057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59580" y="3675888"/>
            <a:ext cx="365760" cy="365760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5958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89348" y="3675888"/>
            <a:ext cx="11947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持续优化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42460" y="4133088"/>
            <a:ext cx="15147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算法迭代、报表、审计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2880360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建议交付物：测试报告、SOP、作业报表模板、风险评估、培训与运维手册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成本与收益的常见计算方式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把“飞一次”拆成可计量的工时、风险与数据价值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806440" cy="4434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对比（示例：巡检/测绘类任务）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017520"/>
            <a:ext cx="5303520" cy="475488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0282" y="3017520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0443" y="3017520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99816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7442" y="3099816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人工/车辆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7603" y="3099816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无人机方案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493008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0282" y="3493008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0443" y="3493008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575304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单次覆盖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47442" y="3575304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低–中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7603" y="3575304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中–高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396849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10282" y="3968496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0443" y="3968496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50792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作业时长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47442" y="4050792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7603" y="4050792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" y="4443984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10282" y="4443984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0443" y="4443984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526280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风险暴露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47442" y="4526280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高（高空/道路）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7603" y="4526280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" y="491947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10282" y="4919472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60443" y="4919472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001768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数据粒度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47442" y="5001768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离散/主观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97603" y="5001768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连续/可追溯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539496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10282" y="5394960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0443" y="5394960"/>
            <a:ext cx="0" cy="47548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477256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复检与留证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47442" y="5477256"/>
            <a:ext cx="15215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97603" y="5477256"/>
            <a:ext cx="157459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成本低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2148840"/>
            <a:ext cx="5013655" cy="4434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468880"/>
            <a:ext cx="4373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价值分解（示例）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49440" y="2834640"/>
            <a:ext cx="4373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单位：相对贡献（0–100）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3009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节省工时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66760" y="3246120"/>
            <a:ext cx="2636215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66760" y="3246120"/>
            <a:ext cx="1845351" cy="502920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48695" y="3300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40880" y="4032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降低风险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6760" y="3977640"/>
            <a:ext cx="2636215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3977640"/>
            <a:ext cx="1449918" cy="502920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48695" y="4032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4088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提升覆盖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366760" y="4709160"/>
            <a:ext cx="2636215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6760" y="4709160"/>
            <a:ext cx="1581729" cy="502920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48695" y="4764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40880" y="5495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数据资产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366760" y="5440680"/>
            <a:ext cx="2636215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66760" y="5440680"/>
            <a:ext cx="1186297" cy="502920"/>
          </a:xfrm>
          <a:prstGeom prst="round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48695" y="5495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08015" y="-1463040"/>
            <a:ext cx="7132320" cy="7132320"/>
          </a:xfrm>
          <a:prstGeom prst="ellipse">
            <a:avLst/>
          </a:prstGeom>
          <a:solidFill>
            <a:srgbClr val="0A1A2F">
              <a:alpha val="65000"/>
            </a:srgbClr>
          </a:solidFill>
          <a:ln w="12700">
            <a:solidFill>
              <a:srgbClr val="0A1A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1463040"/>
            <a:ext cx="6766560" cy="6766560"/>
          </a:xfrm>
          <a:prstGeom prst="ellipse">
            <a:avLst/>
          </a:prstGeom>
          <a:solidFill>
            <a:srgbClr val="00FF99">
              <a:alpha val="38000"/>
            </a:srgbClr>
          </a:solidFill>
          <a:ln w="12700">
            <a:solidFill>
              <a:srgbClr val="00FF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结论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三句话带走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10789920" cy="914400"/>
          </a:xfrm>
          <a:prstGeom prst="roundRect">
            <a:avLst/>
          </a:prstGeom>
          <a:solidFill>
            <a:srgbClr val="1E1E1E">
              <a:alpha val="85000"/>
            </a:srgbClr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679192"/>
            <a:ext cx="402336" cy="402336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697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先定义任务工况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覆盖范围、环境、频率、数据产出与SLA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10789920" cy="914400"/>
          </a:xfrm>
          <a:prstGeom prst="roundRect">
            <a:avLst/>
          </a:prstGeom>
          <a:solidFill>
            <a:srgbClr val="1E1E1E">
              <a:alpha val="85000"/>
            </a:srgbClr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822192"/>
            <a:ext cx="402336" cy="402336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749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交付要看闭环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规划→执行→复盘→报表→审计，缺一不可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709160"/>
            <a:ext cx="10789920" cy="914400"/>
          </a:xfrm>
          <a:prstGeom prst="roundRect">
            <a:avLst/>
          </a:prstGeom>
          <a:solidFill>
            <a:srgbClr val="1E1E1E">
              <a:alpha val="85000"/>
            </a:srgbClr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4965192"/>
            <a:ext cx="402336" cy="402336"/>
          </a:xfrm>
          <a:prstGeom prst="ellipse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983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892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合规是硬约束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52120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流程与证据体系比“参数更强”更重要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1140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全球无人机市场数据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数据来源：主要行业研报 (2024–2026)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5303520" cy="38404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市场规模预测 (USD Billion)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17320" y="5120640"/>
            <a:ext cx="731520" cy="1371600"/>
          </a:xfrm>
          <a:prstGeom prst="rect">
            <a:avLst/>
          </a:prstGeom>
          <a:solidFill>
            <a:srgbClr val="00FF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38.2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4754880"/>
            <a:ext cx="731520" cy="1737360"/>
          </a:xfrm>
          <a:prstGeom prst="rect">
            <a:avLst/>
          </a:prstGeom>
          <a:solidFill>
            <a:srgbClr val="00FF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4480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4297680"/>
            <a:ext cx="731520" cy="2194560"/>
          </a:xfrm>
          <a:prstGeom prst="rect">
            <a:avLst/>
          </a:prstGeom>
          <a:solidFill>
            <a:srgbClr val="00FF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54.9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3291840"/>
            <a:ext cx="731520" cy="3200400"/>
          </a:xfrm>
          <a:prstGeom prst="rect">
            <a:avLst/>
          </a:prstGeom>
          <a:solidFill>
            <a:srgbClr val="00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194560"/>
            <a:ext cx="5150815" cy="38404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514600"/>
            <a:ext cx="4510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核心驱动力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3337560"/>
            <a:ext cx="274320" cy="274320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3291840"/>
            <a:ext cx="4053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法规放宽 (U-Space/UTM)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3977640"/>
            <a:ext cx="274320" cy="274320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995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3931920"/>
            <a:ext cx="4053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电池密度突破 (&gt;400Wh/kg)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4617720"/>
            <a:ext cx="274320" cy="274320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636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4572000"/>
            <a:ext cx="4053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边缘计算能力提升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5257800"/>
            <a:ext cx="274320" cy="274320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5276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5212080"/>
            <a:ext cx="4053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人力成本上升替代效应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2026-03-12T12:47:21Z</dcterms:created>
  <dcterms:modified xsi:type="dcterms:W3CDTF">2026-03-12T12:47:21Z</dcterms:modified>
</cp:coreProperties>
</file>