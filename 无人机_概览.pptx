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645920"/>
            <a:ext cx="6583680" cy="6583680"/>
          </a:xfrm>
          <a:prstGeom prst="ellipse">
            <a:avLst/>
          </a:prstGeom>
          <a:solidFill>
            <a:srgbClr val="065A82">
              <a:alpha val="65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22415" y="1737360"/>
            <a:ext cx="6400800" cy="6400800"/>
          </a:xfrm>
          <a:prstGeom prst="ellipse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256032" cy="6858000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57400"/>
            <a:ext cx="108200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无人机技术与应用概览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713232" y="2971800"/>
            <a:ext cx="1076523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 · 载荷 · 算法 · 合规 · 交付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365760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本次分享覆盖什么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从技术底座到落地交付的关键点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3290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386584"/>
            <a:ext cx="164592" cy="7589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404872"/>
            <a:ext cx="47013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技术栈分层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862072"/>
            <a:ext cx="47013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平台/飞控/导航/通信/载荷/软件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43290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84468" y="2386584"/>
            <a:ext cx="164592" cy="758952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58788" y="2404872"/>
            <a:ext cx="47013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关键指标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58788" y="2862072"/>
            <a:ext cx="47013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续航、载重、精度、抗风、冗余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543290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41064"/>
            <a:ext cx="164592" cy="7589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59352"/>
            <a:ext cx="47013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应用场景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4416552"/>
            <a:ext cx="47013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测绘、巡检、农业、安防、应急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55868" y="3703320"/>
            <a:ext cx="543290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84468" y="3941064"/>
            <a:ext cx="164592" cy="758952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8788" y="3959352"/>
            <a:ext cx="47013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安全与合规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58788" y="4416552"/>
            <a:ext cx="47013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空域、隐私、数据、失控保护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5257800"/>
            <a:ext cx="543290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495544"/>
            <a:ext cx="164592" cy="7589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5513832"/>
            <a:ext cx="47013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选型与实施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5971032"/>
            <a:ext cx="47013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需求→方案→试点→规模化运维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55868" y="5257800"/>
            <a:ext cx="543290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468" y="5495544"/>
            <a:ext cx="164592" cy="758952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58788" y="5513832"/>
            <a:ext cx="47013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趋势与机会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758788" y="5971032"/>
            <a:ext cx="47013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AI视觉、蜂群、VTOL、卫星通信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644652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建议时长：10–15 分钟 · 可按需要删减或加深某一块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无人机系统分层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硬件平台 + 任务载荷 + 软件能力共同决定交付效果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78691" y="329184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78691" y="34290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无人机平台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992691" y="1645920"/>
            <a:ext cx="2926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59" y="189280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93859" y="191109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24211" y="18745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机体/动力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24211" y="2267712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结构、桨叶、电机、续航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8691" y="2304288"/>
            <a:ext cx="640080" cy="0"/>
          </a:xfrm>
          <a:prstGeom prst="line">
            <a:avLst/>
          </a:prstGeom>
          <a:noFill/>
          <a:ln w="25400">
            <a:solidFill>
              <a:srgbClr val="BFD3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87651" y="1645920"/>
            <a:ext cx="2926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8819" y="189280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88819" y="191109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119171" y="18745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飞控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119171" y="2267712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姿态控制、冗余、故障保护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39011" y="2304288"/>
            <a:ext cx="548640" cy="0"/>
          </a:xfrm>
          <a:prstGeom prst="line">
            <a:avLst/>
          </a:prstGeom>
          <a:noFill/>
          <a:ln w="25400">
            <a:solidFill>
              <a:srgbClr val="BFD3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72651" y="4023360"/>
            <a:ext cx="2926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73819" y="42702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73819" y="428853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04171" y="4251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导航定位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04171" y="4645152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GNSS/RTK、IMU、视觉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78691" y="4681728"/>
            <a:ext cx="320040" cy="0"/>
          </a:xfrm>
          <a:prstGeom prst="line">
            <a:avLst/>
          </a:prstGeom>
          <a:noFill/>
          <a:ln w="25400">
            <a:solidFill>
              <a:srgbClr val="BFD3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07691" y="4023360"/>
            <a:ext cx="2926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08859" y="427024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08859" y="428853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439211" y="4251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通信链路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439211" y="4645152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数传/图传、抗干扰、加密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839011" y="4681728"/>
            <a:ext cx="868680" cy="0"/>
          </a:xfrm>
          <a:prstGeom prst="line">
            <a:avLst/>
          </a:prstGeom>
          <a:noFill/>
          <a:ln w="25400">
            <a:solidFill>
              <a:srgbClr val="BFD3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992691" y="6400800"/>
            <a:ext cx="2926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93859" y="664768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93859" y="66659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724211" y="66294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任务载荷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24211" y="7022592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相机、激光雷达、喷洒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78691" y="7059168"/>
            <a:ext cx="640080" cy="0"/>
          </a:xfrm>
          <a:prstGeom prst="line">
            <a:avLst/>
          </a:prstGeom>
          <a:noFill/>
          <a:ln w="25400">
            <a:solidFill>
              <a:srgbClr val="BFD3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87651" y="6400800"/>
            <a:ext cx="2926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8819" y="664768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88819" y="66659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119171" y="66294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地面站/云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119171" y="7022592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规划、任务管理、数据闭环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839011" y="7059168"/>
            <a:ext cx="548640" cy="0"/>
          </a:xfrm>
          <a:prstGeom prst="line">
            <a:avLst/>
          </a:prstGeom>
          <a:noFill/>
          <a:ln w="25400">
            <a:solidFill>
              <a:srgbClr val="BFD3E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2057400"/>
            <a:ext cx="49377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228600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交付视角：三条主线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886968" y="2944368"/>
            <a:ext cx="329184" cy="32918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6968" y="2962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32588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可靠性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325880" y="33101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失控保护、冗余、抗风与维护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86968" y="41788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86968" y="41970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325880" y="4160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数据链路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1325880" y="454456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采集→处理→标注→分析→归档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86968" y="5413248"/>
            <a:ext cx="329184" cy="32918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86968" y="54315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325880" y="5394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任务闭环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325880" y="577900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规划、执行、复盘、SOP、报表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怎么衡量一台无人机是否适配任务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先定义工况，再谈参数：环境、载荷、作业模式决定答案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3533546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386584"/>
            <a:ext cx="164592" cy="94183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404872"/>
            <a:ext cx="2802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续航/航程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862072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电池效率、巡航速度、留安全余量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108960"/>
            <a:ext cx="27563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45–90 分钟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29074" y="2148840"/>
            <a:ext cx="3533546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7674" y="2386584"/>
            <a:ext cx="164592" cy="941832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31994" y="2404872"/>
            <a:ext cx="2802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载重/载荷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31994" y="2862072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相机/雷达/喷洒与供电接口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31994" y="3108960"/>
            <a:ext cx="27563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0.5–10 kg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55229" y="2148840"/>
            <a:ext cx="3533546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83829" y="2386584"/>
            <a:ext cx="164592" cy="94183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58149" y="2404872"/>
            <a:ext cx="2802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定位精度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658149" y="2862072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RTK/PPP 与标定流程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58149" y="3108960"/>
            <a:ext cx="27563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厘米级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02920" y="3858768"/>
            <a:ext cx="3533546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096512"/>
            <a:ext cx="164592" cy="94183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114800"/>
            <a:ext cx="2802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抗风/稳定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05840" y="4572000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风场、控制律、螺旋桨匹配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818888"/>
            <a:ext cx="27563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6–10 m/s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329074" y="3858768"/>
            <a:ext cx="3533546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57674" y="4096512"/>
            <a:ext cx="164592" cy="941832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1994" y="4114800"/>
            <a:ext cx="2802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链路与带宽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831994" y="4572000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图传延迟、数传可靠性、加密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831994" y="4818888"/>
            <a:ext cx="27563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200 ms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155229" y="3858768"/>
            <a:ext cx="3533546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83829" y="4096512"/>
            <a:ext cx="164592" cy="94183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58149" y="4114800"/>
            <a:ext cx="2802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安全冗余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658149" y="4572000"/>
            <a:ext cx="280202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 IMU、双 GNSS、失效保护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658149" y="4818888"/>
            <a:ext cx="27563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可控降落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提示：参数来自典型行业范围，最终以测试工况与合规约束为准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典型行业应用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每个场景都要绑定：目标、覆盖范围、数据产出与SLA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354573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41401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43230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24941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测绘建模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807208"/>
            <a:ext cx="2494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航测/倾斜摄影、点云与正射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2978" y="2148840"/>
            <a:ext cx="354573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8154" y="241401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8154" y="243230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91658" y="2377440"/>
            <a:ext cx="24941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电力巡检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91658" y="2807208"/>
            <a:ext cx="2494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可见光+红外，缺陷识别与复核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43037" y="2148840"/>
            <a:ext cx="354573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08213" y="241401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08213" y="243230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11717" y="2377440"/>
            <a:ext cx="24941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安防应急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011717" y="2807208"/>
            <a:ext cx="2494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热成像、喊话照明、快速部署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354573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419709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" y="4215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71600" y="4160520"/>
            <a:ext cx="24941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农业植保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" y="4590288"/>
            <a:ext cx="2494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变量喷洒、地块管理与合规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322978" y="3931920"/>
            <a:ext cx="354573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8154" y="419709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88154" y="4215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91658" y="4160520"/>
            <a:ext cx="24941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物流配送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191658" y="4590288"/>
            <a:ext cx="2494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短距高频、末端交付与调度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143037" y="3931920"/>
            <a:ext cx="354573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08213" y="419709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08213" y="4215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011717" y="4160520"/>
            <a:ext cx="24941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园区运维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011717" y="4590288"/>
            <a:ext cx="2494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例行巡航、告警联动、报表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趋势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2026 前后值得关注的能力升级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硬件性能提升放缓，差异化更多来自软件与系统工程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2377440"/>
            <a:ext cx="10820095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能力路线（从可用到可规模化）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63040" y="3291840"/>
            <a:ext cx="0" cy="2212848"/>
          </a:xfrm>
          <a:prstGeom prst="line">
            <a:avLst/>
          </a:prstGeom>
          <a:noFill/>
          <a:ln w="38100">
            <a:solidFill>
              <a:srgbClr val="BFD3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53312" y="3364992"/>
            <a:ext cx="219456" cy="21945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3319272"/>
            <a:ext cx="96313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视觉感知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37360" y="3566160"/>
            <a:ext cx="96313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目标识别、缺陷检测、避障与自定位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53312" y="3895344"/>
            <a:ext cx="219456" cy="21945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37360" y="3849624"/>
            <a:ext cx="96313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高精定位普及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4096512"/>
            <a:ext cx="96313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RTK/PPP 标准化、标定流程产品化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53312" y="4425696"/>
            <a:ext cx="219456" cy="21945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37360" y="4379976"/>
            <a:ext cx="96313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蜂群/协同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37360" y="4626864"/>
            <a:ext cx="96313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多机调度、任务分配、冲突消解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353312" y="4956048"/>
            <a:ext cx="219456" cy="21945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4910328"/>
            <a:ext cx="96313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通信升级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737360" y="5157216"/>
            <a:ext cx="96313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 专网、卫星链路、端到端加密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353312" y="5486400"/>
            <a:ext cx="219456" cy="21945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7360" y="5440680"/>
            <a:ext cx="96313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VTOL 与复合翼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5687568"/>
            <a:ext cx="96313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长航程 + 垂直起降，拓展工况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安全与合规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把风险降到可控：流程 + 技术 + 证据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合规不是“能不能飞”，而是“能否持续交付并承担责任”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669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合规清单（示例）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0120" y="3209544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1958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315468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空域/审批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410712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飞行计划、禁飞区、临时管制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0120" y="3867912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8541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381304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人员资质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406908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机长/操作员培训与记录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" y="452628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51256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4471416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数据合规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472744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隐私处理、留存期限、访问控制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0120" y="5184648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517093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34440" y="512978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设备安全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5385816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失控保护、返航策略、冗余验证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60120" y="5843016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8293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5788152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现场SOP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34440" y="604418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起降区、围界、告知、应急预案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2194560"/>
            <a:ext cx="510509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2514600"/>
            <a:ext cx="4465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风险矩阵（示例）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040880" y="3246120"/>
            <a:ext cx="4099255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90508" y="3246120"/>
            <a:ext cx="0" cy="2971800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40880" y="4732020"/>
            <a:ext cx="4099255" cy="0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40880" y="3246120"/>
            <a:ext cx="2049628" cy="1485900"/>
          </a:xfrm>
          <a:prstGeom prst="rect">
            <a:avLst/>
          </a:prstGeom>
          <a:solidFill>
            <a:srgbClr val="10B981">
              <a:alpha val="22000"/>
            </a:srgbClr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90508" y="3246120"/>
            <a:ext cx="2049628" cy="1485900"/>
          </a:xfrm>
          <a:prstGeom prst="rect">
            <a:avLst/>
          </a:prstGeom>
          <a:solidFill>
            <a:srgbClr val="F59E0B">
              <a:alpha val="22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40880" y="4732020"/>
            <a:ext cx="2049628" cy="1485900"/>
          </a:xfrm>
          <a:prstGeom prst="rect">
            <a:avLst/>
          </a:prstGeom>
          <a:solidFill>
            <a:srgbClr val="F59E0B">
              <a:alpha val="22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90508" y="4732020"/>
            <a:ext cx="2049628" cy="1485900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 rot="5400000">
            <a:off x="11185855" y="4640580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41868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发生概率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269480" y="3429000"/>
            <a:ext cx="1234440" cy="32004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69480" y="34564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低：SOP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273388" y="4914900"/>
            <a:ext cx="1234440" cy="3200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73388" y="49423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中：冗余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273388" y="3429000"/>
            <a:ext cx="1234440" cy="32004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73388" y="34564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高：禁飞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实施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从需求到规模化：建议的交付路径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用试点验证闭环，用指标驱动扩容与运维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2377440"/>
            <a:ext cx="10820095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3474720"/>
            <a:ext cx="1834835" cy="205740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3675888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6941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18488" y="3675888"/>
            <a:ext cx="11947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需求定义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4133088"/>
            <a:ext cx="15147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场景/范围/产出/频率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1531" y="4343400"/>
            <a:ext cx="310896" cy="320040"/>
          </a:xfrm>
          <a:prstGeom prst="rightArrow">
            <a:avLst/>
          </a:prstGeom>
          <a:solidFill>
            <a:srgbClr val="BFD3E2"/>
          </a:solidFill>
          <a:ln w="12700">
            <a:solidFill>
              <a:srgbClr val="BFD3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69275" y="3474720"/>
            <a:ext cx="1834835" cy="205740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6435" y="3675888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6435" y="36941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36203" y="3675888"/>
            <a:ext cx="11947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平台选型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89315" y="4133088"/>
            <a:ext cx="15147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机型/载荷/链路/合规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9246" y="4343400"/>
            <a:ext cx="310896" cy="320040"/>
          </a:xfrm>
          <a:prstGeom prst="rightArrow">
            <a:avLst/>
          </a:prstGeom>
          <a:solidFill>
            <a:srgbClr val="BFD3E2"/>
          </a:solidFill>
          <a:ln w="12700">
            <a:solidFill>
              <a:srgbClr val="BF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86990" y="3474720"/>
            <a:ext cx="1834835" cy="205740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24150" y="3675888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4150" y="36941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53918" y="3675888"/>
            <a:ext cx="11947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试点验证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07030" y="4133088"/>
            <a:ext cx="15147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SOP、指标、数据闭环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66961" y="4343400"/>
            <a:ext cx="310896" cy="320040"/>
          </a:xfrm>
          <a:prstGeom prst="rightArrow">
            <a:avLst/>
          </a:prstGeom>
          <a:solidFill>
            <a:srgbClr val="BFD3E2"/>
          </a:solidFill>
          <a:ln w="12700">
            <a:solidFill>
              <a:srgbClr val="BFD3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04705" y="3474720"/>
            <a:ext cx="1834835" cy="205740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41865" y="3675888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41865" y="36941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71633" y="3675888"/>
            <a:ext cx="11947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规模部署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4745" y="4133088"/>
            <a:ext cx="15147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人员、备件、工单体系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884676" y="4343400"/>
            <a:ext cx="310896" cy="320040"/>
          </a:xfrm>
          <a:prstGeom prst="rightArrow">
            <a:avLst/>
          </a:prstGeom>
          <a:solidFill>
            <a:srgbClr val="BFD3E2"/>
          </a:solidFill>
          <a:ln w="12700">
            <a:solidFill>
              <a:srgbClr val="BFD3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22420" y="3474720"/>
            <a:ext cx="1834835" cy="205740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59580" y="3675888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59580" y="36941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689348" y="3675888"/>
            <a:ext cx="11947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持续优化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442460" y="4133088"/>
            <a:ext cx="15147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算法迭代、报表、审计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51560" y="2880360"/>
            <a:ext cx="100885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建议交付物：测试报告、SOP、作业报表模板、风险评估、培训与运维手册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40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成本与收益的常见计算方式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把“飞一次”拆成可计量的工时、风险与数据价值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8064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68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对比（示例：巡检/测绘类任务）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0120" y="3017520"/>
            <a:ext cx="5303520" cy="475488"/>
          </a:xfrm>
          <a:prstGeom prst="rect">
            <a:avLst/>
          </a:prstGeom>
          <a:solidFill>
            <a:srgbClr val="F2F7FA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10282" y="3017520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0443" y="3017520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099816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指标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7442" y="3099816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人工/车辆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7603" y="3099816"/>
            <a:ext cx="15745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无人机方案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493008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10282" y="3493008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60443" y="3493008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575304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单次覆盖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47442" y="3575304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低–中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97603" y="3575304"/>
            <a:ext cx="15745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中–高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0120" y="3968496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10282" y="3968496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60443" y="3968496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4050792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作业时长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47442" y="4050792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97603" y="4050792"/>
            <a:ext cx="15745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60120" y="4443984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10282" y="4443984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0443" y="4443984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4526280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风险暴露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47442" y="4526280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高（高空/道路）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97603" y="4526280"/>
            <a:ext cx="15745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60120" y="4919472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10282" y="4919472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60443" y="4919472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7280" y="5001768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数据粒度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847442" y="5001768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离散/主观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97603" y="5001768"/>
            <a:ext cx="15745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连续/可追溯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60120" y="5394960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0282" y="5394960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60443" y="5394960"/>
            <a:ext cx="0" cy="475488"/>
          </a:xfrm>
          <a:prstGeom prst="line">
            <a:avLst/>
          </a:prstGeom>
          <a:noFill/>
          <a:ln w="12700">
            <a:solidFill>
              <a:srgbClr val="D6E1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97280" y="5477256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复检与留证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847442" y="5477256"/>
            <a:ext cx="152156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成本高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97603" y="5477256"/>
            <a:ext cx="15745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成本低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629400" y="2148840"/>
            <a:ext cx="5013655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1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2468880"/>
            <a:ext cx="43735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价值分解（示例）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949440" y="2834640"/>
            <a:ext cx="43735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单位：相对贡献（0–100）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33009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节省工时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66760" y="3246120"/>
            <a:ext cx="2636215" cy="50292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F2F7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66760" y="3246120"/>
            <a:ext cx="1845351" cy="502920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048695" y="330098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40880" y="403250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降低风险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366760" y="3977640"/>
            <a:ext cx="2636215" cy="50292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F2F7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66760" y="3977640"/>
            <a:ext cx="1449918" cy="502920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048695" y="40325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040880" y="476402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提升覆盖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366760" y="4709160"/>
            <a:ext cx="2636215" cy="50292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F2F7F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66760" y="4709160"/>
            <a:ext cx="1581729" cy="502920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048695" y="4764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40880" y="5495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数据资产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366760" y="5440680"/>
            <a:ext cx="2636215" cy="50292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F2F7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6760" y="5440680"/>
            <a:ext cx="1186297" cy="502920"/>
          </a:xfrm>
          <a:prstGeom prst="round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048695" y="549554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08015" y="-1463040"/>
            <a:ext cx="7132320" cy="7132320"/>
          </a:xfrm>
          <a:prstGeom prst="ellipse">
            <a:avLst/>
          </a:prstGeom>
          <a:solidFill>
            <a:srgbClr val="065A82">
              <a:alpha val="65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011680" y="1463040"/>
            <a:ext cx="6766560" cy="6766560"/>
          </a:xfrm>
          <a:prstGeom prst="ellipse">
            <a:avLst/>
          </a:prstGeom>
          <a:solidFill>
            <a:srgbClr val="02C39A">
              <a:alpha val="3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结论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13232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三句话带走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23160"/>
            <a:ext cx="10789920" cy="914400"/>
          </a:xfrm>
          <a:prstGeom prst="roundRect">
            <a:avLst/>
          </a:prstGeom>
          <a:solidFill>
            <a:srgbClr val="10263A">
              <a:alpha val="85000"/>
            </a:srgbClr>
          </a:solidFill>
          <a:ln w="12700">
            <a:solidFill>
              <a:srgbClr val="10263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2679192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697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63040" y="2606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先定义任务工况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926080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覆盖范围、环境、频率、数据产出与SLA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566160"/>
            <a:ext cx="10789920" cy="914400"/>
          </a:xfrm>
          <a:prstGeom prst="roundRect">
            <a:avLst/>
          </a:prstGeom>
          <a:solidFill>
            <a:srgbClr val="10263A">
              <a:alpha val="85000"/>
            </a:srgbClr>
          </a:solidFill>
          <a:ln w="12700">
            <a:solidFill>
              <a:srgbClr val="10263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1832" y="3822192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3840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3749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交付要看闭环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4069080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规划→执行→复盘→报表→审计，缺一不可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709160"/>
            <a:ext cx="10789920" cy="914400"/>
          </a:xfrm>
          <a:prstGeom prst="roundRect">
            <a:avLst/>
          </a:prstGeom>
          <a:solidFill>
            <a:srgbClr val="10263A">
              <a:alpha val="85000"/>
            </a:srgbClr>
          </a:solidFill>
          <a:ln w="12700">
            <a:solidFill>
              <a:srgbClr val="10263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32" y="4965192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983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63040" y="4892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合规是硬约束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63040" y="5212080"/>
            <a:ext cx="9875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流程与证据体系比“参数更强”更重要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" y="6355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2026-03-12T07:51:41Z</dcterms:created>
  <dcterms:modified xsi:type="dcterms:W3CDTF">2026-03-12T07:51:41Z</dcterms:modified>
</cp:coreProperties>
</file>